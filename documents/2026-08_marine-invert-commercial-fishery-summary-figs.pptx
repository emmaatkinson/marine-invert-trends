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65" r:id="rId13"/>
    <p:sldId id="273" r:id="rId14"/>
    <p:sldId id="270" r:id="rId15"/>
    <p:sldId id="274" r:id="rId16"/>
    <p:sldId id="266" r:id="rId17"/>
    <p:sldId id="275" r:id="rId18"/>
    <p:sldId id="267" r:id="rId19"/>
    <p:sldId id="276" r:id="rId20"/>
    <p:sldId id="268" r:id="rId21"/>
    <p:sldId id="277" r:id="rId22"/>
    <p:sldId id="269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4B3F-41D8-BDB4-6A60-C4FD0D71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31CD6-2175-C25C-2CA6-A5033AF2B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E8CC5-7D51-98D7-E5B8-723D3BEE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51ED-0A4E-8C04-EC6C-484A760F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E5ADA-115C-788D-7FBF-EFFA2EBA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266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282D-D384-A2CB-FD15-6A76358F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73FD-4F1F-5C2F-C3EC-E6EB8E45B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0137A-83C6-5609-E259-506029EB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EB0C-2517-7089-2D55-72A88F09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DE6A-B0A9-CB95-709B-B03E336E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182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09FE-53C2-4A6F-70C5-7A51DAB4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EE667-D05A-7F9A-A618-98F96DFC8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87340-F318-FC04-24C7-3D6050C8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279CD-6341-E4E2-9BC8-397C7B3E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2366-BFB9-DE84-36AE-FBE441AF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40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838A-4DC1-4F30-2A98-41AFBF22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5DF4-337E-7179-9CD9-B4E9D656F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C7858-2616-EEB7-DE2D-371571F49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C7E3C-B596-967C-1B81-9762CE32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FCE3-2862-C463-A05A-7E365B97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4DB06-4210-576A-0384-67EFA4B0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10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1A94-EB3E-D0A1-D06D-B6A0F2FA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F67B7-4662-7010-8713-56785A122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94CC2-7574-5852-5317-91209B52A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DEDE0-F78F-8D42-87B6-0601E18A0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67063-2CC1-64F5-A367-F4BA4C0F5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32FA8-7B12-A001-6D7B-CAD12D28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69171-C054-07BE-F6C8-337D1382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E3D9D-6C41-73B8-6C6C-57537507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470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B056-1D9D-67D2-290B-22DA1C3E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E7FFC-D694-9BF3-490F-4B86CC3B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19AA6-32C9-CF27-745A-C8000B34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95E40-CDAA-A6DD-2428-EEAC4801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549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D62F4-97A8-0B75-B1F7-863D3A6B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9A5EB-7063-8934-0D6E-D1187DE3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1CB3A-C3A6-57B0-92D5-75CE9118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957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B032-7434-95F8-3CFC-3626734C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379E-A45A-F25A-913B-CC4BE4D09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A997D-6EB1-9C11-AE12-BED58276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79149-9625-2CCA-9248-A81B1227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3C4C3-BE8D-DDD6-478B-E9913CE5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81DA2-E7A8-A536-339B-E4B44B4A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40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C136-25AF-EF0C-DAB8-BBB02F37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01C54-A021-7C06-DB06-004A2E1BE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97635-E9C4-6ACA-B994-50FECA2BB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CECAF-9F6C-6CA2-3576-35A06C4F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2ADA7-35AF-AB63-39AE-68668821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A373-DC3B-4834-64A5-B65DA3E8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528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87B0-EACD-3E50-3AF6-45AF4A52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370E1-C7EC-2B6D-E75D-8DE6B0127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57BB1-C25A-9412-717D-910F4329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F6F4F-491C-82E4-1CF6-4CA5C468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5A6A4-F22A-9D81-FF1D-7B37BCCC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045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09ED31-5A9E-3FBD-5FE7-1A3E2CD4D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8381F-AB15-6E87-D0CC-D8D14067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9A03-6591-6229-0482-740044DA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D79A1-75A9-4C7F-26D2-E827E1BF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EE796-96B8-7960-24A7-8A684079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34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83950-40AB-B9F2-3E4E-627EAEF8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33999-A26E-F9E8-96C7-DE5C86C42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3E0FC-5591-0AF1-F9FD-519F02731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D32CE-B05B-43E7-BF96-39B780D453F2}" type="datetimeFigureOut">
              <a:rPr lang="en-CA" smtClean="0"/>
              <a:t>2026-08-19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9F3C-31FD-C87F-FDC6-9C4EC74F9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682D4-562C-B322-2A65-0A2637167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2BC21-C640-4A5D-80F5-E8183ABD1E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487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4735-A35B-76B8-E902-62F5B10DB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Marine invert trends</a:t>
            </a:r>
            <a:endParaRPr lang="en-C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5882F-107E-08AE-3B64-C0881742D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Summary figures of commercial fishery data</a:t>
            </a:r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4631BE-16C5-7F1A-9144-610444F2D120}"/>
              </a:ext>
            </a:extLst>
          </p:cNvPr>
          <p:cNvSpPr txBox="1">
            <a:spLocks/>
          </p:cNvSpPr>
          <p:nvPr/>
        </p:nvSpPr>
        <p:spPr>
          <a:xfrm>
            <a:off x="9733613" y="6340240"/>
            <a:ext cx="2573312" cy="51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August 8, 2026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456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0315-5BFB-74D1-11A3-E17F0E937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crab by trap</a:t>
            </a:r>
            <a:r>
              <a:rPr lang="en-US" b="1" dirty="0"/>
              <a:t>  </a:t>
            </a:r>
            <a:endParaRPr lang="en-CA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DA82B-3316-3195-9C0A-47C241415F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" y="774127"/>
            <a:ext cx="9279636" cy="618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2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EF8F-DF17-E998-6140-65633C7A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14E7-11FB-5CDF-D050-55BE6F32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prawn by trap</a:t>
            </a:r>
            <a:r>
              <a:rPr lang="en-US" b="1" dirty="0"/>
              <a:t>  </a:t>
            </a:r>
            <a:endParaRPr lang="en-CA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A2C259-968D-91B4-3CC6-EA1BF6316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8759"/>
            <a:ext cx="12079427" cy="40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8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14CE-C646-03C1-1178-EE6F1C03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3E75-DC79-F462-434E-5818EA81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shrimp trawl</a:t>
            </a:r>
            <a:r>
              <a:rPr lang="en-US" b="1" dirty="0"/>
              <a:t>  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B9161-B392-5676-59A4-BD7F4B126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08758"/>
            <a:ext cx="11850629" cy="39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4E4BA-412F-CFE0-D780-4AB49555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6CA6-44BA-0737-EAC1-87940174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Autofit/>
          </a:bodyPr>
          <a:lstStyle/>
          <a:p>
            <a:r>
              <a:rPr lang="en-US" sz="3600" b="1" dirty="0"/>
              <a:t>Coastwide trends by species –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geoduck &amp;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horseclam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dive</a:t>
            </a:r>
            <a:r>
              <a:rPr lang="en-US" sz="3600" b="1" dirty="0"/>
              <a:t>  </a:t>
            </a:r>
            <a:endParaRPr lang="en-CA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DDE47-3193-67FA-6F62-262ED0076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0740"/>
            <a:ext cx="12124952" cy="40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0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90C3-7A74-4A8D-D685-EA7EAA41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C73C-E5F0-ED06-F6F5-A9A33738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red urchin dive 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58A8D-59D6-6FFC-3843-5D840531B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16"/>
            <a:ext cx="12152387" cy="405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9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A267-0CCD-E382-D232-66EFB127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1CCE-6270-6D52-1328-9893605B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green urchin dive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7951A-AE74-5B03-1BBC-D4F82ADF5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53308"/>
            <a:ext cx="12097523" cy="403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7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5648-4D8A-83BE-56ED-AC0EF978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0C01-176F-6FF8-CAD2-564634CB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Coastwide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sea cucumber dive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F7713-B35C-FE06-A048-029385820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36" y="1417320"/>
            <a:ext cx="12181423" cy="40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8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3C74-39D6-440C-DA32-D8B1FAD0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DB27-3E9C-48BA-9AE9-81B0BBBF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</a:t>
            </a:r>
            <a:endParaRPr lang="en-CA" b="1" dirty="0"/>
          </a:p>
        </p:txBody>
      </p:sp>
      <p:pic>
        <p:nvPicPr>
          <p:cNvPr id="3" name="Picture 2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77400ED3-EF39-08EB-8382-B5A390D6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138" y="-104871"/>
            <a:ext cx="5461862" cy="7067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8C2068-B35E-6405-6260-8C0B551CA598}"/>
              </a:ext>
            </a:extLst>
          </p:cNvPr>
          <p:cNvSpPr txBox="1"/>
          <p:nvPr/>
        </p:nvSpPr>
        <p:spPr>
          <a:xfrm>
            <a:off x="374904" y="1069848"/>
            <a:ext cx="59893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Preliminary regional breakdown (open to input):</a:t>
            </a:r>
          </a:p>
          <a:p>
            <a:endParaRPr lang="en-US" b="1" dirty="0"/>
          </a:p>
          <a:p>
            <a:r>
              <a:rPr lang="en-US" b="1" dirty="0"/>
              <a:t>Haida Gwaii/North Coast</a:t>
            </a:r>
          </a:p>
          <a:p>
            <a:r>
              <a:rPr lang="en-CA" dirty="0"/>
              <a:t>PFMAs 1,2,3,4,5,101,102,103,104,105,106,14</a:t>
            </a:r>
          </a:p>
          <a:p>
            <a:endParaRPr lang="en-CA" b="1" dirty="0"/>
          </a:p>
          <a:p>
            <a:r>
              <a:rPr lang="en-CA" b="1" dirty="0"/>
              <a:t>Central Coast</a:t>
            </a:r>
          </a:p>
          <a:p>
            <a:r>
              <a:rPr lang="en-CA" dirty="0"/>
              <a:t>PFMAs 6,7,8,9,10,11,107,108,109,110,111</a:t>
            </a:r>
            <a:endParaRPr lang="en-CA" b="0" dirty="0">
              <a:effectLst/>
            </a:endParaRPr>
          </a:p>
          <a:p>
            <a:endParaRPr lang="en-CA" b="1" dirty="0"/>
          </a:p>
          <a:p>
            <a:r>
              <a:rPr lang="en-CA" b="1" dirty="0"/>
              <a:t>West Coast Vancouver Island/Offshore</a:t>
            </a:r>
          </a:p>
          <a:p>
            <a:r>
              <a:rPr lang="en-CA" dirty="0"/>
              <a:t>PFMAs 25,26,27,121,123,124,125,126,127,130</a:t>
            </a:r>
          </a:p>
          <a:p>
            <a:endParaRPr lang="en-CA" b="1" dirty="0"/>
          </a:p>
          <a:p>
            <a:r>
              <a:rPr lang="en-CA" b="1" dirty="0"/>
              <a:t>Strait of Georgia/NE Vancouver Island</a:t>
            </a:r>
          </a:p>
          <a:p>
            <a:r>
              <a:rPr lang="en-CA" dirty="0"/>
              <a:t>PFMAs 12,13,14,15,16,17,18,28,29</a:t>
            </a:r>
          </a:p>
          <a:p>
            <a:endParaRPr lang="en-CA" b="1" dirty="0"/>
          </a:p>
          <a:p>
            <a:r>
              <a:rPr lang="en-CA" b="1" dirty="0"/>
              <a:t>South Coast/Juan de Fuca</a:t>
            </a:r>
          </a:p>
          <a:p>
            <a:r>
              <a:rPr lang="en-CA" dirty="0"/>
              <a:t>PFMAs 19,20,21,22,23,24</a:t>
            </a:r>
            <a:endParaRPr lang="en-CA" b="1" dirty="0"/>
          </a:p>
          <a:p>
            <a:endParaRPr lang="en-CA" b="1" dirty="0"/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42920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7ACE-D815-BB22-BCB5-2D01A1E0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BDE7-9BF1-810C-82EC-CBF3032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crab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9A8656-E7DA-0D9B-8787-3F3C9B2C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624840"/>
            <a:ext cx="7791450" cy="62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1D95-6219-23C0-52CB-E18AC540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99EF-040B-47A9-D914-27C36027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crab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4BB1C-885E-CB4E-AAB6-4D4F40C42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1042412"/>
            <a:ext cx="11365992" cy="51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05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42DC-740B-6C8B-647F-470493A7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A350-3F47-6D8C-CD57-C66A59F5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prawn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AEDF2-5090-EABE-580F-593B3AC92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92" y="1075878"/>
            <a:ext cx="11761390" cy="441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5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498D-4C23-A816-A0EB-A1C806FE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3A3C-1E6F-9025-34D6-9D63AAE7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prawn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48B4E-C74F-38F1-E257-2E8C05C8B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4" y="996692"/>
            <a:ext cx="11643370" cy="52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50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2B5D-4032-A7AA-AD81-3A33103F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5098-48BD-F255-24A7-AD4E8158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shrimp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CAF88-E329-9836-C5D4-CCFA84ED8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9" y="1156714"/>
            <a:ext cx="12118859" cy="45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51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0924-8FCB-EB7E-211F-063E5376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E71F-CB40-2089-7BBD-2FE7C57B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shrimp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45CE8-F101-7F53-2E36-D767F2927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972"/>
            <a:ext cx="11988810" cy="53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6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F64E-07DA-4CA7-6FBF-8ACB0FD7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8815-C3B9-B09C-967A-A28C2623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geoduck &amp; 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horseclam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FC4E7-CFE7-039B-2816-0363C748C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3" y="1088132"/>
            <a:ext cx="11996939" cy="449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40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CE072-1CDE-B243-14F8-FAABBEE4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7077-1CAA-C778-ADB9-7D019F07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geoduck &amp; 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horseclam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874F8-AE1E-0D5B-B3DB-B87F5528B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9260"/>
            <a:ext cx="11755765" cy="52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8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8455-32C2-4868-27E7-8AB03ECE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B254-86F3-7912-FE13-A44DD7DD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red urchin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BD45E2-72A9-B0F6-4AF8-189D41517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74"/>
            <a:ext cx="11996939" cy="449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4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10DA-3A17-1E54-5824-352AC220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EB2C-7A5C-F75C-B26C-88F08745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red urchin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70166-1709-7F86-6DDD-E9B938B65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6" y="1069844"/>
            <a:ext cx="11602730" cy="522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26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444A-5895-D922-A93B-92F8B182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6900-6AEA-B5E1-B571-5B53F0EAA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green urchin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CAD19-C2A3-BB65-71C1-99DCD5BE5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" y="1161286"/>
            <a:ext cx="12094475" cy="45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3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82A5-BC84-938F-5E21-4F7469D6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6470-E69E-8B2E-D9CA-524D5646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green urchin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0173C-375C-2D5E-1E62-37FE59676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66" y="969260"/>
            <a:ext cx="11623050" cy="523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8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D787-ADF7-CE43-F7A8-FFD829E4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B729-309B-6F74-1333-0FACF71B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Regional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sea cucumber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E8033-7668-623C-0792-AC6F76126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0722"/>
            <a:ext cx="12106662" cy="453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17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B073-FE8D-8116-562E-970D9EF9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B215-876C-72CD-54A4-5E0F7861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CPUE trends by species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sea cucumber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F6E54-7254-61E1-514E-2C9EDEAEC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126"/>
            <a:ext cx="12219239" cy="549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86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2293-5A5D-AB3D-620F-5D5CA714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9E21-E442-F22B-B367-C98C4615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Ranked catch by PFMA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crab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3ACAD-D7A0-E749-D0FB-73C3F45612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795" y="1072831"/>
            <a:ext cx="9430523" cy="5501139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93330B67-87FE-FA64-B94D-3D765F6709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1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B4E4-F633-EDD6-F56E-B777591E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78D9-67BC-6A65-17B9-CA7E0D30E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Ranked catch by PFMA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prawn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42B9A-1DDF-0D1E-0592-A51F59386C8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955" y="774127"/>
            <a:ext cx="7815145" cy="6252117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B38F26A0-D4AF-9EEF-3A57-522862357D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53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0372-432D-5984-110A-EC9CFCDA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9827-AE62-53EE-CB32-24DEC578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b="1" dirty="0"/>
              <a:t>Ranked catch by PFMA –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shrimp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5F2D1-8F61-59D7-AEA9-2D55F710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955" y="774128"/>
            <a:ext cx="7815145" cy="6252115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B6C356AB-8EE0-A997-1655-1BD2CFED86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9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3AA5-43FE-6EFD-4977-F9173659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32EB-71C8-FE7B-C76E-23F015EB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sz="3600" b="1" dirty="0"/>
              <a:t>Ranked catch by PFMA –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geoduck &amp;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horseclam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0AA38-59AC-30C5-7B4F-234B7860E63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956" y="774128"/>
            <a:ext cx="7815143" cy="6252115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066CD6C1-2B9E-C3CE-2507-286CC8EF4D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7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4031-549D-CDC5-CD47-A13477CB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BE0F-677E-FBFF-4DF6-470564D0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sz="3600" b="1" dirty="0"/>
              <a:t>Ranked catch by PFMA –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red urchin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47A20-37C0-6D78-898C-EC933384FC7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956" y="774128"/>
            <a:ext cx="7815143" cy="6252114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D78C9E92-49A4-DD61-CA30-AF3FA6F96C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67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2F85-16F4-F78B-C3AD-0FD94B2B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9BA1-E544-6036-9D67-853EEE5F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sz="3600" b="1" dirty="0"/>
              <a:t>Ranked catch by PFMA –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green urchin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083BB-EA14-973D-7D5E-64AE8DE3EB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76" b="52290"/>
          <a:stretch>
            <a:fillRect/>
          </a:stretch>
        </p:blipFill>
        <p:spPr>
          <a:xfrm>
            <a:off x="559235" y="883855"/>
            <a:ext cx="7901801" cy="4785425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F22F4C56-11F5-F902-0FC0-25BF15909E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51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9D29-97A4-F918-28C3-8E80E083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FA0B-805D-03EF-B701-084830AB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082" cy="774127"/>
          </a:xfrm>
        </p:spPr>
        <p:txBody>
          <a:bodyPr>
            <a:normAutofit/>
          </a:bodyPr>
          <a:lstStyle/>
          <a:p>
            <a:r>
              <a:rPr lang="en-US" sz="3600" b="1" dirty="0"/>
              <a:t>Ranked catch by PFMA –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sea cucumber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747D4-4597-BCE6-8790-90B24C49D9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3" t="-14" r="393" b="1393"/>
          <a:stretch>
            <a:fillRect/>
          </a:stretch>
        </p:blipFill>
        <p:spPr>
          <a:xfrm>
            <a:off x="322242" y="618679"/>
            <a:ext cx="7908109" cy="6239321"/>
          </a:xfrm>
          <a:prstGeom prst="rect">
            <a:avLst/>
          </a:prstGeom>
        </p:spPr>
      </p:pic>
      <p:pic>
        <p:nvPicPr>
          <p:cNvPr id="6" name="Picture 5" descr="Pacific Fisheries Management Area maps | Pacific Region | Fisheries and  Oceans Canada">
            <a:extLst>
              <a:ext uri="{FF2B5EF4-FFF2-40B4-BE49-F238E27FC236}">
                <a16:creationId xmlns:a16="http://schemas.microsoft.com/office/drawing/2014/main" id="{3DBA29BE-71CD-0A48-A7BB-6C08830B5A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8692" y="-109728"/>
            <a:ext cx="3213036" cy="41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7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258</Words>
  <Application>Microsoft Office PowerPoint</Application>
  <PresentationFormat>Widescreen</PresentationFormat>
  <Paragraphs>48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Marine invert trends</vt:lpstr>
      <vt:lpstr>Coastwide trends by species – crab by trap  </vt:lpstr>
      <vt:lpstr>Coastwide trends by species – prawn by trap  </vt:lpstr>
      <vt:lpstr>Coastwide trends by species – shrimp trawl  </vt:lpstr>
      <vt:lpstr>Coastwide trends by species – geoduck &amp; horseclam dive  </vt:lpstr>
      <vt:lpstr>Coastwide trends by species – red urchin dive </vt:lpstr>
      <vt:lpstr>Coastwide trends by species – green urchin dive</vt:lpstr>
      <vt:lpstr>Coastwide trends by species – sea cucumber dive</vt:lpstr>
      <vt:lpstr>Regional trends by species</vt:lpstr>
      <vt:lpstr>Regional trends by species – crab</vt:lpstr>
      <vt:lpstr>CPUE trends by species – crab</vt:lpstr>
      <vt:lpstr>Regional trends by species – prawn</vt:lpstr>
      <vt:lpstr>CPUE trends by species – prawn</vt:lpstr>
      <vt:lpstr>Regional trends by species – shrimp</vt:lpstr>
      <vt:lpstr>CPUE trends by species – shrimp</vt:lpstr>
      <vt:lpstr>Regional trends by species – geoduck &amp; horseclam</vt:lpstr>
      <vt:lpstr>CPUE trends by species – geoduck &amp; horseclam</vt:lpstr>
      <vt:lpstr>Regional trends by species – red urchin</vt:lpstr>
      <vt:lpstr>CPUE trends by species – red urchin</vt:lpstr>
      <vt:lpstr>Regional trends by species – green urchin</vt:lpstr>
      <vt:lpstr>CPUE trends by species – green urchin</vt:lpstr>
      <vt:lpstr>Regional trends by species – sea cucumber</vt:lpstr>
      <vt:lpstr>CPUE trends by species – sea cucumber</vt:lpstr>
      <vt:lpstr>Ranked catch by PFMA – crab</vt:lpstr>
      <vt:lpstr>Ranked catch by PFMA – prawn</vt:lpstr>
      <vt:lpstr>Ranked catch by PFMA – shrimp</vt:lpstr>
      <vt:lpstr>Ranked catch by PFMA – geoduck &amp; horseclam</vt:lpstr>
      <vt:lpstr>Ranked catch by PFMA – red urchin</vt:lpstr>
      <vt:lpstr>Ranked catch by PFMA – green urchin</vt:lpstr>
      <vt:lpstr>Ranked catch by PFMA – sea cucumber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Atkinson</dc:creator>
  <cp:lastModifiedBy>Emma Atkinson</cp:lastModifiedBy>
  <cp:revision>1</cp:revision>
  <dcterms:created xsi:type="dcterms:W3CDTF">2026-08-19T13:15:04Z</dcterms:created>
  <dcterms:modified xsi:type="dcterms:W3CDTF">2026-08-19T14:34:31Z</dcterms:modified>
</cp:coreProperties>
</file>